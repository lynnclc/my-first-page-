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280160"/>
          </a:xfrm>
          <a:prstGeom prst="rect">
            <a:avLst/>
          </a:prstGeom>
          <a:noFill/>
        </p:spPr>
        <p:txBody>
          <a:bodyPr wrap="square" lIns="0" tIns="0" rIns="0" bIns="0">
            <a:spAutoFit/>
          </a:bodyPr>
          <a:lstStyle/>
          <a:p>
            <a:pPr>
              <a:defRPr sz="1100" b="1">
                <a:solidFill>
                  <a:srgbClr val="38BDF8"/>
                </a:solidFill>
                <a:latin typeface="微軟正黑體"/>
              </a:defRPr>
            </a:pPr>
            <a:r>
              <a:t>SLIDE 01 / 08 • 政策戰略願景</a:t>
            </a:r>
          </a:p>
          <a:p>
            <a:pPr>
              <a:spcBef>
                <a:spcPts val="400"/>
              </a:spcBef>
              <a:defRPr sz="2600" b="1">
                <a:solidFill>
                  <a:srgbClr val="F8FAFC"/>
                </a:solidFill>
                <a:latin typeface="微軟正黑體"/>
              </a:defRPr>
            </a:pPr>
            <a:r>
              <a:t>計畫核心宗旨與推動願景</a:t>
            </a:r>
          </a:p>
          <a:p>
            <a:pPr>
              <a:spcBef>
                <a:spcPts val="200"/>
              </a:spcBef>
              <a:defRPr sz="1200">
                <a:solidFill>
                  <a:srgbClr val="94A3B8"/>
                </a:solidFill>
                <a:latin typeface="微軟正黑體"/>
              </a:defRPr>
            </a:pPr>
            <a:r>
              <a:t>立足國家人才資本政策，串聯區域辦訓量能，全面激發勞工自我提升動能</a:t>
            </a:r>
          </a:p>
        </p:txBody>
      </p:sp>
      <p:sp>
        <p:nvSpPr>
          <p:cNvPr id="4" name="Rounded Rectangle 3"/>
          <p:cNvSpPr/>
          <p:nvPr/>
        </p:nvSpPr>
        <p:spPr>
          <a:xfrm>
            <a:off x="731520"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3328416"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956816"/>
            <a:ext cx="2816352" cy="3931920"/>
          </a:xfrm>
          <a:prstGeom prst="rect">
            <a:avLst/>
          </a:prstGeom>
          <a:noFill/>
        </p:spPr>
        <p:txBody>
          <a:bodyPr wrap="square" lIns="0" tIns="0" rIns="0" bIns="0">
            <a:spAutoFit/>
          </a:bodyPr>
          <a:lstStyle/>
          <a:p>
            <a:pPr>
              <a:defRPr sz="1000" b="1">
                <a:solidFill>
                  <a:srgbClr val="38BDF8"/>
                </a:solidFill>
                <a:latin typeface="Arial"/>
              </a:defRPr>
            </a:pPr>
            <a:r>
              <a:t>FOCUS 01</a:t>
            </a:r>
          </a:p>
          <a:p>
            <a:pPr>
              <a:spcBef>
                <a:spcPts val="400"/>
              </a:spcBef>
              <a:defRPr sz="1800" b="1">
                <a:solidFill>
                  <a:srgbClr val="F8FAFC"/>
                </a:solidFill>
                <a:latin typeface="微軟正黑體"/>
              </a:defRPr>
            </a:pPr>
            <a:r>
              <a:t>政策源起與核心宗旨</a:t>
            </a:r>
          </a:p>
          <a:p>
            <a:pPr>
              <a:spcBef>
                <a:spcPts val="1000"/>
              </a:spcBef>
              <a:defRPr sz="1300" b="1">
                <a:solidFill>
                  <a:srgbClr val="38BDF8"/>
                </a:solidFill>
                <a:latin typeface="微軟正黑體"/>
              </a:defRPr>
            </a:pPr>
            <a:r>
              <a:t>▸ 激勵在職勞工自主學習</a:t>
            </a:r>
          </a:p>
          <a:p>
            <a:pPr>
              <a:spcBef>
                <a:spcPts val="1000"/>
              </a:spcBef>
              <a:defRPr sz="1200">
                <a:solidFill>
                  <a:srgbClr val="94A3B8"/>
                </a:solidFill>
                <a:latin typeface="微軟正黑體"/>
              </a:defRPr>
            </a:pPr>
            <a:r>
              <a:t>依據《產業人才投資方案補助要點》，引導勞工自主精進知識、實務技能及職場態度，累積個人人力資本，達成提升國家整體競爭力目標。</a:t>
            </a:r>
          </a:p>
        </p:txBody>
      </p:sp>
      <p:sp>
        <p:nvSpPr>
          <p:cNvPr id="7" name="Rounded Rectangle 6"/>
          <p:cNvSpPr/>
          <p:nvPr/>
        </p:nvSpPr>
        <p:spPr>
          <a:xfrm>
            <a:off x="4425696"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25696" y="1737360"/>
            <a:ext cx="3328416"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1956816"/>
            <a:ext cx="2816352" cy="3931920"/>
          </a:xfrm>
          <a:prstGeom prst="rect">
            <a:avLst/>
          </a:prstGeom>
          <a:noFill/>
        </p:spPr>
        <p:txBody>
          <a:bodyPr wrap="square" lIns="0" tIns="0" rIns="0" bIns="0">
            <a:spAutoFit/>
          </a:bodyPr>
          <a:lstStyle/>
          <a:p>
            <a:pPr>
              <a:defRPr sz="1000" b="1">
                <a:solidFill>
                  <a:srgbClr val="818CF8"/>
                </a:solidFill>
                <a:latin typeface="Arial"/>
              </a:defRPr>
            </a:pPr>
            <a:r>
              <a:t>FOCUS 02</a:t>
            </a:r>
          </a:p>
          <a:p>
            <a:pPr>
              <a:spcBef>
                <a:spcPts val="400"/>
              </a:spcBef>
              <a:defRPr sz="1800" b="1">
                <a:solidFill>
                  <a:srgbClr val="F8FAFC"/>
                </a:solidFill>
                <a:latin typeface="微軟正黑體"/>
              </a:defRPr>
            </a:pPr>
            <a:r>
              <a:t>產官學協同運作</a:t>
            </a:r>
          </a:p>
          <a:p>
            <a:pPr>
              <a:spcBef>
                <a:spcPts val="1000"/>
              </a:spcBef>
              <a:defRPr sz="1300" b="1">
                <a:solidFill>
                  <a:srgbClr val="818CF8"/>
                </a:solidFill>
                <a:latin typeface="微軟正黑體"/>
              </a:defRPr>
            </a:pPr>
            <a:r>
              <a:t>▸ 深化區域產業需求對接</a:t>
            </a:r>
          </a:p>
          <a:p>
            <a:pPr>
              <a:spcBef>
                <a:spcPts val="1000"/>
              </a:spcBef>
              <a:defRPr sz="1200">
                <a:solidFill>
                  <a:srgbClr val="94A3B8"/>
                </a:solidFill>
                <a:latin typeface="微軟正黑體"/>
              </a:defRPr>
            </a:pPr>
            <a:r>
              <a:t>結合優質辦訓機構與大專校院，透過分署深入結合區域訓練機構特色與地方重點產業需求，開辦多元實務導向課程，保障參訓品質。</a:t>
            </a:r>
          </a:p>
        </p:txBody>
      </p:sp>
      <p:sp>
        <p:nvSpPr>
          <p:cNvPr id="10" name="Rounded Rectangle 9"/>
          <p:cNvSpPr/>
          <p:nvPr/>
        </p:nvSpPr>
        <p:spPr>
          <a:xfrm>
            <a:off x="8119872"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1737360"/>
            <a:ext cx="3328416"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1956816"/>
            <a:ext cx="2816352" cy="3931920"/>
          </a:xfrm>
          <a:prstGeom prst="rect">
            <a:avLst/>
          </a:prstGeom>
          <a:noFill/>
        </p:spPr>
        <p:txBody>
          <a:bodyPr wrap="square" lIns="0" tIns="0" rIns="0" bIns="0">
            <a:spAutoFit/>
          </a:bodyPr>
          <a:lstStyle/>
          <a:p>
            <a:pPr>
              <a:defRPr sz="1000" b="1">
                <a:solidFill>
                  <a:srgbClr val="FBBF24"/>
                </a:solidFill>
                <a:latin typeface="Arial"/>
              </a:defRPr>
            </a:pPr>
            <a:r>
              <a:t>FOCUS 03</a:t>
            </a:r>
          </a:p>
          <a:p>
            <a:pPr>
              <a:spcBef>
                <a:spcPts val="400"/>
              </a:spcBef>
              <a:defRPr sz="1800" b="1">
                <a:solidFill>
                  <a:srgbClr val="F8FAFC"/>
                </a:solidFill>
                <a:latin typeface="微軟正黑體"/>
              </a:defRPr>
            </a:pPr>
            <a:r>
              <a:t>培育核心效益</a:t>
            </a:r>
          </a:p>
          <a:p>
            <a:pPr>
              <a:spcBef>
                <a:spcPts val="1000"/>
              </a:spcBef>
              <a:defRPr sz="1300" b="1">
                <a:solidFill>
                  <a:srgbClr val="FBBF24"/>
                </a:solidFill>
                <a:latin typeface="微軟正黑體"/>
              </a:defRPr>
            </a:pPr>
            <a:r>
              <a:t>▸ 大幅降低在職進修門檻</a:t>
            </a:r>
          </a:p>
          <a:p>
            <a:pPr>
              <a:spcBef>
                <a:spcPts val="1000"/>
              </a:spcBef>
              <a:defRPr sz="1200">
                <a:solidFill>
                  <a:srgbClr val="94A3B8"/>
                </a:solidFill>
                <a:latin typeface="微軟正黑體"/>
              </a:defRPr>
            </a:pPr>
            <a:r>
              <a:t>提供高額學費補助誘發自主進修意願，有效減輕在職勞工財務負擔，厚植職場關鍵就業力，奠定國家產業轉型與永續發展基石。</a:t>
            </a:r>
          </a:p>
        </p:txBody>
      </p:sp>
      <p:sp>
        <p:nvSpPr>
          <p:cNvPr id="13" name="TextBox 12"/>
          <p:cNvSpPr txBox="1"/>
          <p:nvPr/>
        </p:nvSpPr>
        <p:spPr>
          <a:xfrm>
            <a:off x="731520" y="6217920"/>
            <a:ext cx="10728655" cy="365760"/>
          </a:xfrm>
          <a:prstGeom prst="rect">
            <a:avLst/>
          </a:prstGeom>
          <a:noFill/>
        </p:spPr>
        <p:txBody>
          <a:bodyPr wrap="square" lIns="0" tIns="0" rIns="0" bIns="0">
            <a:spAutoFit/>
          </a:bodyPr>
          <a:lstStyle/>
          <a:p>
            <a:pPr>
              <a:defRPr sz="1000">
                <a:solidFill>
                  <a:srgbClr val="64748B"/>
                </a:solidFill>
                <a:latin typeface="微軟正黑體"/>
              </a:defRPr>
            </a:pPr>
            <a:r>
              <a:t>依據：產業人才投資方案補助要點第一條至第二條  |  勞動部勞動力發展署產業人才投資計畫</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280160"/>
          </a:xfrm>
          <a:prstGeom prst="rect">
            <a:avLst/>
          </a:prstGeom>
          <a:noFill/>
        </p:spPr>
        <p:txBody>
          <a:bodyPr wrap="square" lIns="0" tIns="0" rIns="0" bIns="0">
            <a:spAutoFit/>
          </a:bodyPr>
          <a:lstStyle/>
          <a:p>
            <a:pPr>
              <a:defRPr sz="1100" b="1">
                <a:solidFill>
                  <a:srgbClr val="38BDF8"/>
                </a:solidFill>
                <a:latin typeface="微軟正黑體"/>
              </a:defRPr>
            </a:pPr>
            <a:r>
              <a:t>SLIDE 02 / 08 • 資格審查規範</a:t>
            </a:r>
          </a:p>
          <a:p>
            <a:pPr>
              <a:spcBef>
                <a:spcPts val="400"/>
              </a:spcBef>
              <a:defRPr sz="2600" b="1">
                <a:solidFill>
                  <a:srgbClr val="F8FAFC"/>
                </a:solidFill>
                <a:latin typeface="微軟正黑體"/>
              </a:defRPr>
            </a:pPr>
            <a:r>
              <a:t>參訓對象與身分資格條件</a:t>
            </a:r>
          </a:p>
          <a:p>
            <a:pPr>
              <a:spcBef>
                <a:spcPts val="200"/>
              </a:spcBef>
              <a:defRPr sz="1200">
                <a:solidFill>
                  <a:srgbClr val="94A3B8"/>
                </a:solidFill>
                <a:latin typeface="微軟正黑體"/>
              </a:defRPr>
            </a:pPr>
            <a:r>
              <a:t>明確界定受補助之在職勞工年齡、投保身分與跨國居留規範</a:t>
            </a:r>
          </a:p>
        </p:txBody>
      </p:sp>
      <p:sp>
        <p:nvSpPr>
          <p:cNvPr id="4" name="Rounded Rectangle 3"/>
          <p:cNvSpPr/>
          <p:nvPr/>
        </p:nvSpPr>
        <p:spPr>
          <a:xfrm>
            <a:off x="731520"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3328416"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956816"/>
            <a:ext cx="2816352" cy="3931920"/>
          </a:xfrm>
          <a:prstGeom prst="rect">
            <a:avLst/>
          </a:prstGeom>
          <a:noFill/>
        </p:spPr>
        <p:txBody>
          <a:bodyPr wrap="square" lIns="0" tIns="0" rIns="0" bIns="0">
            <a:spAutoFit/>
          </a:bodyPr>
          <a:lstStyle/>
          <a:p>
            <a:pPr>
              <a:defRPr sz="1000" b="1">
                <a:solidFill>
                  <a:srgbClr val="38BDF8"/>
                </a:solidFill>
                <a:latin typeface="Arial"/>
              </a:defRPr>
            </a:pPr>
            <a:r>
              <a:t>FOCUS 01</a:t>
            </a:r>
          </a:p>
          <a:p>
            <a:pPr>
              <a:spcBef>
                <a:spcPts val="400"/>
              </a:spcBef>
              <a:defRPr sz="1800" b="1">
                <a:solidFill>
                  <a:srgbClr val="F8FAFC"/>
                </a:solidFill>
                <a:latin typeface="微軟正黑體"/>
              </a:defRPr>
            </a:pPr>
            <a:r>
              <a:t>法定年齡與保險身分</a:t>
            </a:r>
          </a:p>
          <a:p>
            <a:pPr>
              <a:spcBef>
                <a:spcPts val="1000"/>
              </a:spcBef>
              <a:defRPr sz="1300" b="1">
                <a:solidFill>
                  <a:srgbClr val="38BDF8"/>
                </a:solidFill>
                <a:latin typeface="微軟正黑體"/>
              </a:defRPr>
            </a:pPr>
            <a:r>
              <a:t>▸ 年滿 15 歲以上具保勞工</a:t>
            </a:r>
          </a:p>
          <a:p>
            <a:pPr>
              <a:spcBef>
                <a:spcPts val="1000"/>
              </a:spcBef>
              <a:defRPr sz="1200">
                <a:solidFill>
                  <a:srgbClr val="94A3B8"/>
                </a:solidFill>
                <a:latin typeface="微軟正黑體"/>
              </a:defRPr>
            </a:pPr>
            <a:r>
              <a:t>須為開訓日年滿 15 歲以上之在職勞工，且具備就業保險、勞工保險、勞工職業災害保險或農民健康保險被保險人身分。</a:t>
            </a:r>
          </a:p>
        </p:txBody>
      </p:sp>
      <p:sp>
        <p:nvSpPr>
          <p:cNvPr id="7" name="Rounded Rectangle 6"/>
          <p:cNvSpPr/>
          <p:nvPr/>
        </p:nvSpPr>
        <p:spPr>
          <a:xfrm>
            <a:off x="4425696"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25696" y="1737360"/>
            <a:ext cx="3328416"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1956816"/>
            <a:ext cx="2816352" cy="3931920"/>
          </a:xfrm>
          <a:prstGeom prst="rect">
            <a:avLst/>
          </a:prstGeom>
          <a:noFill/>
        </p:spPr>
        <p:txBody>
          <a:bodyPr wrap="square" lIns="0" tIns="0" rIns="0" bIns="0">
            <a:spAutoFit/>
          </a:bodyPr>
          <a:lstStyle/>
          <a:p>
            <a:pPr>
              <a:defRPr sz="1000" b="1">
                <a:solidFill>
                  <a:srgbClr val="818CF8"/>
                </a:solidFill>
                <a:latin typeface="Arial"/>
              </a:defRPr>
            </a:pPr>
            <a:r>
              <a:t>FOCUS 02</a:t>
            </a:r>
          </a:p>
          <a:p>
            <a:pPr>
              <a:spcBef>
                <a:spcPts val="400"/>
              </a:spcBef>
              <a:defRPr sz="1800" b="1">
                <a:solidFill>
                  <a:srgbClr val="F8FAFC"/>
                </a:solidFill>
                <a:latin typeface="微軟正黑體"/>
              </a:defRPr>
            </a:pPr>
            <a:r>
              <a:t>多元對象身分涵蓋</a:t>
            </a:r>
          </a:p>
          <a:p>
            <a:pPr>
              <a:spcBef>
                <a:spcPts val="1000"/>
              </a:spcBef>
              <a:defRPr sz="1300" b="1">
                <a:solidFill>
                  <a:srgbClr val="818CF8"/>
                </a:solidFill>
                <a:latin typeface="微軟正黑體"/>
              </a:defRPr>
            </a:pPr>
            <a:r>
              <a:t>▸ 擴大納入新住民與合法居留</a:t>
            </a:r>
          </a:p>
          <a:p>
            <a:pPr>
              <a:spcBef>
                <a:spcPts val="1000"/>
              </a:spcBef>
              <a:defRPr sz="1200">
                <a:solidFill>
                  <a:srgbClr val="94A3B8"/>
                </a:solidFill>
                <a:latin typeface="微軟正黑體"/>
              </a:defRPr>
            </a:pPr>
            <a:r>
              <a:t>涵蓋本國籍、與國人結婚獲准在台工作之外籍/陸港澳配偶、泰緬單一國籍無戶籍國民，以及人口販運合法取得工作許可之受害者。</a:t>
            </a:r>
          </a:p>
        </p:txBody>
      </p:sp>
      <p:sp>
        <p:nvSpPr>
          <p:cNvPr id="10" name="Rounded Rectangle 9"/>
          <p:cNvSpPr/>
          <p:nvPr/>
        </p:nvSpPr>
        <p:spPr>
          <a:xfrm>
            <a:off x="8119872"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1737360"/>
            <a:ext cx="3328416"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1956816"/>
            <a:ext cx="2816352" cy="3931920"/>
          </a:xfrm>
          <a:prstGeom prst="rect">
            <a:avLst/>
          </a:prstGeom>
          <a:noFill/>
        </p:spPr>
        <p:txBody>
          <a:bodyPr wrap="square" lIns="0" tIns="0" rIns="0" bIns="0">
            <a:spAutoFit/>
          </a:bodyPr>
          <a:lstStyle/>
          <a:p>
            <a:pPr>
              <a:defRPr sz="1000" b="1">
                <a:solidFill>
                  <a:srgbClr val="FBBF24"/>
                </a:solidFill>
                <a:latin typeface="Arial"/>
              </a:defRPr>
            </a:pPr>
            <a:r>
              <a:t>FOCUS 03</a:t>
            </a:r>
          </a:p>
          <a:p>
            <a:pPr>
              <a:spcBef>
                <a:spcPts val="400"/>
              </a:spcBef>
              <a:defRPr sz="1800" b="1">
                <a:solidFill>
                  <a:srgbClr val="F8FAFC"/>
                </a:solidFill>
                <a:latin typeface="微軟正黑體"/>
              </a:defRPr>
            </a:pPr>
            <a:r>
              <a:t>排他限制與自律原則</a:t>
            </a:r>
          </a:p>
          <a:p>
            <a:pPr>
              <a:spcBef>
                <a:spcPts val="1000"/>
              </a:spcBef>
              <a:defRPr sz="1300" b="1">
                <a:solidFill>
                  <a:srgbClr val="FBBF24"/>
                </a:solidFill>
                <a:latin typeface="微軟正黑體"/>
              </a:defRPr>
            </a:pPr>
            <a:r>
              <a:t>▸ 避免重複補助與單一獨占</a:t>
            </a:r>
          </a:p>
          <a:p>
            <a:pPr>
              <a:spcBef>
                <a:spcPts val="1000"/>
              </a:spcBef>
              <a:defRPr sz="1200">
                <a:solidFill>
                  <a:srgbClr val="94A3B8"/>
                </a:solidFill>
                <a:latin typeface="微軟正黑體"/>
              </a:defRPr>
            </a:pPr>
            <a:r>
              <a:t>失業者職訓補助期間不得重複請領；時段重疊限報一班；同一訓練班次中同一投保單位員工不得超過該班核定人數之 1/2。</a:t>
            </a:r>
          </a:p>
        </p:txBody>
      </p:sp>
      <p:sp>
        <p:nvSpPr>
          <p:cNvPr id="13" name="TextBox 12"/>
          <p:cNvSpPr txBox="1"/>
          <p:nvPr/>
        </p:nvSpPr>
        <p:spPr>
          <a:xfrm>
            <a:off x="731520" y="6217920"/>
            <a:ext cx="10728655" cy="365760"/>
          </a:xfrm>
          <a:prstGeom prst="rect">
            <a:avLst/>
          </a:prstGeom>
          <a:noFill/>
        </p:spPr>
        <p:txBody>
          <a:bodyPr wrap="square" lIns="0" tIns="0" rIns="0" bIns="0">
            <a:spAutoFit/>
          </a:bodyPr>
          <a:lstStyle/>
          <a:p>
            <a:pPr>
              <a:defRPr sz="1000">
                <a:solidFill>
                  <a:srgbClr val="64748B"/>
                </a:solidFill>
                <a:latin typeface="微軟正黑體"/>
              </a:defRPr>
            </a:pPr>
            <a:r>
              <a:t>依據：計畫第四條、第五條、第二十七條規定（基準日為開訓日）  |  勞動部勞動力發展署產業人才投資計畫</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280160"/>
          </a:xfrm>
          <a:prstGeom prst="rect">
            <a:avLst/>
          </a:prstGeom>
          <a:noFill/>
        </p:spPr>
        <p:txBody>
          <a:bodyPr wrap="square" lIns="0" tIns="0" rIns="0" bIns="0">
            <a:spAutoFit/>
          </a:bodyPr>
          <a:lstStyle/>
          <a:p>
            <a:pPr>
              <a:defRPr sz="1100" b="1">
                <a:solidFill>
                  <a:srgbClr val="38BDF8"/>
                </a:solidFill>
                <a:latin typeface="微軟正黑體"/>
              </a:defRPr>
            </a:pPr>
            <a:r>
              <a:t>SLIDE 03 / 08 • 補助經費機制</a:t>
            </a:r>
          </a:p>
          <a:p>
            <a:pPr>
              <a:spcBef>
                <a:spcPts val="400"/>
              </a:spcBef>
              <a:defRPr sz="2600" b="1">
                <a:solidFill>
                  <a:srgbClr val="F8FAFC"/>
                </a:solidFill>
                <a:latin typeface="微軟正黑體"/>
              </a:defRPr>
            </a:pPr>
            <a:r>
              <a:t>補助額度與「三年十萬」制度</a:t>
            </a:r>
          </a:p>
          <a:p>
            <a:pPr>
              <a:spcBef>
                <a:spcPts val="200"/>
              </a:spcBef>
              <a:defRPr sz="1200">
                <a:solidFill>
                  <a:srgbClr val="94A3B8"/>
                </a:solidFill>
                <a:latin typeface="微軟正黑體"/>
              </a:defRPr>
            </a:pPr>
            <a:r>
              <a:t>落實多元補助梯度，三年十萬額度循環累計，全力扶持特定弱勢群體</a:t>
            </a:r>
          </a:p>
        </p:txBody>
      </p:sp>
      <p:sp>
        <p:nvSpPr>
          <p:cNvPr id="4" name="Rounded Rectangle 3"/>
          <p:cNvSpPr/>
          <p:nvPr/>
        </p:nvSpPr>
        <p:spPr>
          <a:xfrm>
            <a:off x="731520"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3328416"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956816"/>
            <a:ext cx="2816352" cy="3931920"/>
          </a:xfrm>
          <a:prstGeom prst="rect">
            <a:avLst/>
          </a:prstGeom>
          <a:noFill/>
        </p:spPr>
        <p:txBody>
          <a:bodyPr wrap="square" lIns="0" tIns="0" rIns="0" bIns="0">
            <a:spAutoFit/>
          </a:bodyPr>
          <a:lstStyle/>
          <a:p>
            <a:pPr>
              <a:defRPr sz="1000" b="1">
                <a:solidFill>
                  <a:srgbClr val="38BDF8"/>
                </a:solidFill>
                <a:latin typeface="Arial"/>
              </a:defRPr>
            </a:pPr>
            <a:r>
              <a:t>FOCUS 01</a:t>
            </a:r>
          </a:p>
          <a:p>
            <a:pPr>
              <a:spcBef>
                <a:spcPts val="400"/>
              </a:spcBef>
              <a:defRPr sz="1800" b="1">
                <a:solidFill>
                  <a:srgbClr val="F8FAFC"/>
                </a:solidFill>
                <a:latin typeface="微軟正黑體"/>
              </a:defRPr>
            </a:pPr>
            <a:r>
              <a:t>三年十萬最高上限</a:t>
            </a:r>
          </a:p>
          <a:p>
            <a:pPr>
              <a:spcBef>
                <a:spcPts val="1000"/>
              </a:spcBef>
              <a:defRPr sz="1300" b="1">
                <a:solidFill>
                  <a:srgbClr val="38BDF8"/>
                </a:solidFill>
                <a:latin typeface="微軟正黑體"/>
              </a:defRPr>
            </a:pPr>
            <a:r>
              <a:t>▸ 每人 3 年最高累計 10 萬元</a:t>
            </a:r>
          </a:p>
          <a:p>
            <a:pPr>
              <a:spcBef>
                <a:spcPts val="1000"/>
              </a:spcBef>
              <a:defRPr sz="1200">
                <a:solidFill>
                  <a:srgbClr val="94A3B8"/>
                </a:solidFill>
                <a:latin typeface="微軟正黑體"/>
              </a:defRPr>
            </a:pPr>
            <a:r>
              <a:t>自初次參與課程之「開訓日」起算 3 年，最高可獲得新臺幣 10 萬元補助額度；三年期滿後重新自後續參訓課程開訓日起算新週期。</a:t>
            </a:r>
          </a:p>
        </p:txBody>
      </p:sp>
      <p:sp>
        <p:nvSpPr>
          <p:cNvPr id="7" name="Rounded Rectangle 6"/>
          <p:cNvSpPr/>
          <p:nvPr/>
        </p:nvSpPr>
        <p:spPr>
          <a:xfrm>
            <a:off x="4425696"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25696" y="1737360"/>
            <a:ext cx="3328416"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1956816"/>
            <a:ext cx="2816352" cy="3931920"/>
          </a:xfrm>
          <a:prstGeom prst="rect">
            <a:avLst/>
          </a:prstGeom>
          <a:noFill/>
        </p:spPr>
        <p:txBody>
          <a:bodyPr wrap="square" lIns="0" tIns="0" rIns="0" bIns="0">
            <a:spAutoFit/>
          </a:bodyPr>
          <a:lstStyle/>
          <a:p>
            <a:pPr>
              <a:defRPr sz="1000" b="1">
                <a:solidFill>
                  <a:srgbClr val="818CF8"/>
                </a:solidFill>
                <a:latin typeface="Arial"/>
              </a:defRPr>
            </a:pPr>
            <a:r>
              <a:t>FOCUS 02</a:t>
            </a:r>
          </a:p>
          <a:p>
            <a:pPr>
              <a:spcBef>
                <a:spcPts val="400"/>
              </a:spcBef>
              <a:defRPr sz="1800" b="1">
                <a:solidFill>
                  <a:srgbClr val="F8FAFC"/>
                </a:solidFill>
                <a:latin typeface="微軟正黑體"/>
              </a:defRPr>
            </a:pPr>
            <a:r>
              <a:t>一般勞工 80% 補助</a:t>
            </a:r>
          </a:p>
          <a:p>
            <a:pPr>
              <a:spcBef>
                <a:spcPts val="1000"/>
              </a:spcBef>
              <a:defRPr sz="1300" b="1">
                <a:solidFill>
                  <a:srgbClr val="818CF8"/>
                </a:solidFill>
                <a:latin typeface="微軟正黑體"/>
              </a:defRPr>
            </a:pPr>
            <a:r>
              <a:t>▸ 政府補助八成、學員自負二成</a:t>
            </a:r>
          </a:p>
          <a:p>
            <a:pPr>
              <a:spcBef>
                <a:spcPts val="1000"/>
              </a:spcBef>
              <a:defRPr sz="1200">
                <a:solidFill>
                  <a:srgbClr val="94A3B8"/>
                </a:solidFill>
                <a:latin typeface="微軟正黑體"/>
              </a:defRPr>
            </a:pPr>
            <a:r>
              <a:t>依核定收費標準，政府補助每一學員 80% 訓練費用，學員僅需自行負擔 20% 自付額，以低負擔享有高品質實務進修課程。</a:t>
            </a:r>
          </a:p>
        </p:txBody>
      </p:sp>
      <p:sp>
        <p:nvSpPr>
          <p:cNvPr id="10" name="Rounded Rectangle 9"/>
          <p:cNvSpPr/>
          <p:nvPr/>
        </p:nvSpPr>
        <p:spPr>
          <a:xfrm>
            <a:off x="8119872"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1737360"/>
            <a:ext cx="3328416"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1956816"/>
            <a:ext cx="2816352" cy="3931920"/>
          </a:xfrm>
          <a:prstGeom prst="rect">
            <a:avLst/>
          </a:prstGeom>
          <a:noFill/>
        </p:spPr>
        <p:txBody>
          <a:bodyPr wrap="square" lIns="0" tIns="0" rIns="0" bIns="0">
            <a:spAutoFit/>
          </a:bodyPr>
          <a:lstStyle/>
          <a:p>
            <a:pPr>
              <a:defRPr sz="1000" b="1">
                <a:solidFill>
                  <a:srgbClr val="FBBF24"/>
                </a:solidFill>
                <a:latin typeface="Arial"/>
              </a:defRPr>
            </a:pPr>
            <a:r>
              <a:t>FOCUS 03</a:t>
            </a:r>
          </a:p>
          <a:p>
            <a:pPr>
              <a:spcBef>
                <a:spcPts val="400"/>
              </a:spcBef>
              <a:defRPr sz="1800" b="1">
                <a:solidFill>
                  <a:srgbClr val="F8FAFC"/>
                </a:solidFill>
                <a:latin typeface="微軟正黑體"/>
              </a:defRPr>
            </a:pPr>
            <a:r>
              <a:t>特定對象 100% 全額</a:t>
            </a:r>
          </a:p>
          <a:p>
            <a:pPr>
              <a:spcBef>
                <a:spcPts val="1000"/>
              </a:spcBef>
              <a:defRPr sz="1300" b="1">
                <a:solidFill>
                  <a:srgbClr val="FBBF24"/>
                </a:solidFill>
                <a:latin typeface="微軟正黑體"/>
              </a:defRPr>
            </a:pPr>
            <a:r>
              <a:t>▸ 中高齡、身障、弱勢學費全免</a:t>
            </a:r>
          </a:p>
          <a:p>
            <a:pPr>
              <a:spcBef>
                <a:spcPts val="1000"/>
              </a:spcBef>
              <a:defRPr sz="1200">
                <a:solidFill>
                  <a:srgbClr val="94A3B8"/>
                </a:solidFill>
                <a:latin typeface="微軟正黑體"/>
              </a:defRPr>
            </a:pPr>
            <a:r>
              <a:t>中高齡（45-64歲）、高齡者（逾65歲）、身心障礙、原住民、低收/中低收、獨力負擔家計者與家暴被害人等，補助全額 100% 訓練費用。</a:t>
            </a:r>
          </a:p>
        </p:txBody>
      </p:sp>
      <p:sp>
        <p:nvSpPr>
          <p:cNvPr id="13" name="TextBox 12"/>
          <p:cNvSpPr txBox="1"/>
          <p:nvPr/>
        </p:nvSpPr>
        <p:spPr>
          <a:xfrm>
            <a:off x="731520" y="6217920"/>
            <a:ext cx="10728655" cy="365760"/>
          </a:xfrm>
          <a:prstGeom prst="rect">
            <a:avLst/>
          </a:prstGeom>
          <a:noFill/>
        </p:spPr>
        <p:txBody>
          <a:bodyPr wrap="square" lIns="0" tIns="0" rIns="0" bIns="0">
            <a:spAutoFit/>
          </a:bodyPr>
          <a:lstStyle/>
          <a:p>
            <a:pPr>
              <a:defRPr sz="1000">
                <a:solidFill>
                  <a:srgbClr val="64748B"/>
                </a:solidFill>
                <a:latin typeface="微軟正黑體"/>
              </a:defRPr>
            </a:pPr>
            <a:r>
              <a:t>依據：計畫第六條、第七條及就業服務法第二十四條規定  |  勞動部勞動力發展署產業人才投資計畫</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280160"/>
          </a:xfrm>
          <a:prstGeom prst="rect">
            <a:avLst/>
          </a:prstGeom>
          <a:noFill/>
        </p:spPr>
        <p:txBody>
          <a:bodyPr wrap="square" lIns="0" tIns="0" rIns="0" bIns="0">
            <a:spAutoFit/>
          </a:bodyPr>
          <a:lstStyle/>
          <a:p>
            <a:pPr>
              <a:defRPr sz="1100" b="1">
                <a:solidFill>
                  <a:srgbClr val="38BDF8"/>
                </a:solidFill>
                <a:latin typeface="微軟正黑體"/>
              </a:defRPr>
            </a:pPr>
            <a:r>
              <a:t>SLIDE 04 / 08 • 班級運作標準</a:t>
            </a:r>
          </a:p>
          <a:p>
            <a:pPr>
              <a:spcBef>
                <a:spcPts val="400"/>
              </a:spcBef>
              <a:defRPr sz="2600" b="1">
                <a:solidFill>
                  <a:srgbClr val="F8FAFC"/>
                </a:solidFill>
                <a:latin typeface="微軟正黑體"/>
              </a:defRPr>
            </a:pPr>
            <a:r>
              <a:t>開班規範與時數期程要求</a:t>
            </a:r>
          </a:p>
          <a:p>
            <a:pPr>
              <a:spcBef>
                <a:spcPts val="200"/>
              </a:spcBef>
              <a:defRPr sz="1200">
                <a:solidFill>
                  <a:srgbClr val="94A3B8"/>
                </a:solidFill>
                <a:latin typeface="微軟正黑體"/>
              </a:defRPr>
            </a:pPr>
            <a:r>
              <a:t>嚴格規範每班訓練容量、時數長度與開訓期程，落實自辦無轉包原則</a:t>
            </a:r>
          </a:p>
        </p:txBody>
      </p:sp>
      <p:sp>
        <p:nvSpPr>
          <p:cNvPr id="4" name="Rounded Rectangle 3"/>
          <p:cNvSpPr/>
          <p:nvPr/>
        </p:nvSpPr>
        <p:spPr>
          <a:xfrm>
            <a:off x="731520"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3328416"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956816"/>
            <a:ext cx="2816352" cy="3931920"/>
          </a:xfrm>
          <a:prstGeom prst="rect">
            <a:avLst/>
          </a:prstGeom>
          <a:noFill/>
        </p:spPr>
        <p:txBody>
          <a:bodyPr wrap="square" lIns="0" tIns="0" rIns="0" bIns="0">
            <a:spAutoFit/>
          </a:bodyPr>
          <a:lstStyle/>
          <a:p>
            <a:pPr>
              <a:defRPr sz="1000" b="1">
                <a:solidFill>
                  <a:srgbClr val="38BDF8"/>
                </a:solidFill>
                <a:latin typeface="Arial"/>
              </a:defRPr>
            </a:pPr>
            <a:r>
              <a:t>FOCUS 01</a:t>
            </a:r>
          </a:p>
          <a:p>
            <a:pPr>
              <a:spcBef>
                <a:spcPts val="400"/>
              </a:spcBef>
              <a:defRPr sz="1800" b="1">
                <a:solidFill>
                  <a:srgbClr val="F8FAFC"/>
                </a:solidFill>
                <a:latin typeface="微軟正黑體"/>
              </a:defRPr>
            </a:pPr>
            <a:r>
              <a:t>訓練時數與期程標準</a:t>
            </a:r>
          </a:p>
          <a:p>
            <a:pPr>
              <a:spcBef>
                <a:spcPts val="1000"/>
              </a:spcBef>
              <a:defRPr sz="1300" b="1">
                <a:solidFill>
                  <a:srgbClr val="38BDF8"/>
                </a:solidFill>
                <a:latin typeface="微軟正黑體"/>
              </a:defRPr>
            </a:pPr>
            <a:r>
              <a:t>▸ 每班 16 至 144 小時為原則</a:t>
            </a:r>
          </a:p>
          <a:p>
            <a:pPr>
              <a:spcBef>
                <a:spcPts val="1000"/>
              </a:spcBef>
              <a:defRPr sz="1200">
                <a:solidFill>
                  <a:srgbClr val="94A3B8"/>
                </a:solidFill>
                <a:latin typeface="微軟正黑體"/>
              </a:defRPr>
            </a:pPr>
            <a:r>
              <a:t>訓練時數應達 16 小時以上，上限 144 小時；開課全期不得超過 4 個月；分為上、下半年度開訓（上半年 1/1~6/30，下半年 7/1~12/31）。</a:t>
            </a:r>
          </a:p>
        </p:txBody>
      </p:sp>
      <p:sp>
        <p:nvSpPr>
          <p:cNvPr id="7" name="Rounded Rectangle 6"/>
          <p:cNvSpPr/>
          <p:nvPr/>
        </p:nvSpPr>
        <p:spPr>
          <a:xfrm>
            <a:off x="4425696"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25696" y="1737360"/>
            <a:ext cx="3328416"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1956816"/>
            <a:ext cx="2816352" cy="3931920"/>
          </a:xfrm>
          <a:prstGeom prst="rect">
            <a:avLst/>
          </a:prstGeom>
          <a:noFill/>
        </p:spPr>
        <p:txBody>
          <a:bodyPr wrap="square" lIns="0" tIns="0" rIns="0" bIns="0">
            <a:spAutoFit/>
          </a:bodyPr>
          <a:lstStyle/>
          <a:p>
            <a:pPr>
              <a:defRPr sz="1000" b="1">
                <a:solidFill>
                  <a:srgbClr val="818CF8"/>
                </a:solidFill>
                <a:latin typeface="Arial"/>
              </a:defRPr>
            </a:pPr>
            <a:r>
              <a:t>FOCUS 02</a:t>
            </a:r>
          </a:p>
          <a:p>
            <a:pPr>
              <a:spcBef>
                <a:spcPts val="400"/>
              </a:spcBef>
              <a:defRPr sz="1800" b="1">
                <a:solidFill>
                  <a:srgbClr val="F8FAFC"/>
                </a:solidFill>
                <a:latin typeface="微軟正黑體"/>
              </a:defRPr>
            </a:pPr>
            <a:r>
              <a:t>班次容量與人數管控</a:t>
            </a:r>
          </a:p>
          <a:p>
            <a:pPr>
              <a:spcBef>
                <a:spcPts val="1000"/>
              </a:spcBef>
              <a:defRPr sz="1300" b="1">
                <a:solidFill>
                  <a:srgbClr val="818CF8"/>
                </a:solidFill>
                <a:latin typeface="微軟正黑體"/>
              </a:defRPr>
            </a:pPr>
            <a:r>
              <a:t>▸ 核定上限 40 人、自費生限 20%</a:t>
            </a:r>
          </a:p>
          <a:p>
            <a:pPr>
              <a:spcBef>
                <a:spcPts val="1000"/>
              </a:spcBef>
              <a:defRPr sz="1200">
                <a:solidFill>
                  <a:srgbClr val="94A3B8"/>
                </a:solidFill>
                <a:latin typeface="微軟正黑體"/>
              </a:defRPr>
            </a:pPr>
            <a:r>
              <a:t>每班核定補助人數上限為 40 人；各班非本計畫補助人數至多不得超過原核定人數之 20%，確保公共訓練資源聚焦於政策補助對象。</a:t>
            </a:r>
          </a:p>
        </p:txBody>
      </p:sp>
      <p:sp>
        <p:nvSpPr>
          <p:cNvPr id="10" name="Rounded Rectangle 9"/>
          <p:cNvSpPr/>
          <p:nvPr/>
        </p:nvSpPr>
        <p:spPr>
          <a:xfrm>
            <a:off x="8119872"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1737360"/>
            <a:ext cx="3328416"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1956816"/>
            <a:ext cx="2816352" cy="3931920"/>
          </a:xfrm>
          <a:prstGeom prst="rect">
            <a:avLst/>
          </a:prstGeom>
          <a:noFill/>
        </p:spPr>
        <p:txBody>
          <a:bodyPr wrap="square" lIns="0" tIns="0" rIns="0" bIns="0">
            <a:spAutoFit/>
          </a:bodyPr>
          <a:lstStyle/>
          <a:p>
            <a:pPr>
              <a:defRPr sz="1000" b="1">
                <a:solidFill>
                  <a:srgbClr val="FBBF24"/>
                </a:solidFill>
                <a:latin typeface="Arial"/>
              </a:defRPr>
            </a:pPr>
            <a:r>
              <a:t>FOCUS 03</a:t>
            </a:r>
          </a:p>
          <a:p>
            <a:pPr>
              <a:spcBef>
                <a:spcPts val="400"/>
              </a:spcBef>
              <a:defRPr sz="1800" b="1">
                <a:solidFill>
                  <a:srgbClr val="F8FAFC"/>
                </a:solidFill>
                <a:latin typeface="微軟正黑體"/>
              </a:defRPr>
            </a:pPr>
            <a:r>
              <a:t>專案主辦與防弊機制</a:t>
            </a:r>
          </a:p>
          <a:p>
            <a:pPr>
              <a:spcBef>
                <a:spcPts val="1000"/>
              </a:spcBef>
              <a:defRPr sz="1300" b="1">
                <a:solidFill>
                  <a:srgbClr val="FBBF24"/>
                </a:solidFill>
                <a:latin typeface="微軟正黑體"/>
              </a:defRPr>
            </a:pPr>
            <a:r>
              <a:t>▸ 嚴禁轉包代訓、不得限會員</a:t>
            </a:r>
          </a:p>
          <a:p>
            <a:pPr>
              <a:spcBef>
                <a:spcPts val="1000"/>
              </a:spcBef>
              <a:defRPr sz="1200">
                <a:solidFill>
                  <a:srgbClr val="94A3B8"/>
                </a:solidFill>
                <a:latin typeface="微軟正黑體"/>
              </a:defRPr>
            </a:pPr>
            <a:r>
              <a:t>經核定之訓練班次應自行辦理，嚴禁轉由或代其他單位辦理；課程具備公共教育性質，絕對不得限制僅供特定機構會員參訓。</a:t>
            </a:r>
          </a:p>
        </p:txBody>
      </p:sp>
      <p:sp>
        <p:nvSpPr>
          <p:cNvPr id="13" name="TextBox 12"/>
          <p:cNvSpPr txBox="1"/>
          <p:nvPr/>
        </p:nvSpPr>
        <p:spPr>
          <a:xfrm>
            <a:off x="731520" y="6217920"/>
            <a:ext cx="10728655" cy="365760"/>
          </a:xfrm>
          <a:prstGeom prst="rect">
            <a:avLst/>
          </a:prstGeom>
          <a:noFill/>
        </p:spPr>
        <p:txBody>
          <a:bodyPr wrap="square" lIns="0" tIns="0" rIns="0" bIns="0">
            <a:spAutoFit/>
          </a:bodyPr>
          <a:lstStyle/>
          <a:p>
            <a:pPr>
              <a:defRPr sz="1000">
                <a:solidFill>
                  <a:srgbClr val="64748B"/>
                </a:solidFill>
                <a:latin typeface="微軟正黑體"/>
              </a:defRPr>
            </a:pPr>
            <a:r>
              <a:t>依據：計畫第十一條、第十三條、第十四條、第十六條  |  勞動部勞動力發展署產業人才投資計畫</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280160"/>
          </a:xfrm>
          <a:prstGeom prst="rect">
            <a:avLst/>
          </a:prstGeom>
          <a:noFill/>
        </p:spPr>
        <p:txBody>
          <a:bodyPr wrap="square" lIns="0" tIns="0" rIns="0" bIns="0">
            <a:spAutoFit/>
          </a:bodyPr>
          <a:lstStyle/>
          <a:p>
            <a:pPr>
              <a:defRPr sz="1100" b="1">
                <a:solidFill>
                  <a:srgbClr val="38BDF8"/>
                </a:solidFill>
                <a:latin typeface="微軟正黑體"/>
              </a:defRPr>
            </a:pPr>
            <a:r>
              <a:t>SLIDE 05 / 08 • 產業與師資</a:t>
            </a:r>
          </a:p>
          <a:p>
            <a:pPr>
              <a:spcBef>
                <a:spcPts val="400"/>
              </a:spcBef>
              <a:defRPr sz="2600" b="1">
                <a:solidFill>
                  <a:srgbClr val="F8FAFC"/>
                </a:solidFill>
                <a:latin typeface="微軟正黑體"/>
              </a:defRPr>
            </a:pPr>
            <a:r>
              <a:t>產業導向與專業師資標準</a:t>
            </a:r>
          </a:p>
          <a:p>
            <a:pPr>
              <a:spcBef>
                <a:spcPts val="200"/>
              </a:spcBef>
              <a:defRPr sz="1200">
                <a:solidFill>
                  <a:srgbClr val="94A3B8"/>
                </a:solidFill>
                <a:latin typeface="微軟正黑體"/>
              </a:defRPr>
            </a:pPr>
            <a:r>
              <a:t>錨定政策性產業重點，遴聘具備實務深厚功底之專業講師與助教團隊</a:t>
            </a:r>
          </a:p>
        </p:txBody>
      </p:sp>
      <p:sp>
        <p:nvSpPr>
          <p:cNvPr id="4" name="Rounded Rectangle 3"/>
          <p:cNvSpPr/>
          <p:nvPr/>
        </p:nvSpPr>
        <p:spPr>
          <a:xfrm>
            <a:off x="731520"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3328416"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956816"/>
            <a:ext cx="2816352" cy="3931920"/>
          </a:xfrm>
          <a:prstGeom prst="rect">
            <a:avLst/>
          </a:prstGeom>
          <a:noFill/>
        </p:spPr>
        <p:txBody>
          <a:bodyPr wrap="square" lIns="0" tIns="0" rIns="0" bIns="0">
            <a:spAutoFit/>
          </a:bodyPr>
          <a:lstStyle/>
          <a:p>
            <a:pPr>
              <a:defRPr sz="1000" b="1">
                <a:solidFill>
                  <a:srgbClr val="38BDF8"/>
                </a:solidFill>
                <a:latin typeface="Arial"/>
              </a:defRPr>
            </a:pPr>
            <a:r>
              <a:t>FOCUS 01</a:t>
            </a:r>
          </a:p>
          <a:p>
            <a:pPr>
              <a:spcBef>
                <a:spcPts val="400"/>
              </a:spcBef>
              <a:defRPr sz="1800" b="1">
                <a:solidFill>
                  <a:srgbClr val="F8FAFC"/>
                </a:solidFill>
                <a:latin typeface="微軟正黑體"/>
              </a:defRPr>
            </a:pPr>
            <a:r>
              <a:t>政策性產業優先開班</a:t>
            </a:r>
          </a:p>
          <a:p>
            <a:pPr>
              <a:spcBef>
                <a:spcPts val="1000"/>
              </a:spcBef>
              <a:defRPr sz="1300" b="1">
                <a:solidFill>
                  <a:srgbClr val="38BDF8"/>
                </a:solidFill>
                <a:latin typeface="微軟正黑體"/>
              </a:defRPr>
            </a:pPr>
            <a:r>
              <a:t>▸ 重點推動產業優先、排除照護</a:t>
            </a:r>
          </a:p>
          <a:p>
            <a:pPr>
              <a:spcBef>
                <a:spcPts val="1000"/>
              </a:spcBef>
              <a:defRPr sz="1200">
                <a:solidFill>
                  <a:srgbClr val="94A3B8"/>
                </a:solidFill>
                <a:latin typeface="微軟正黑體"/>
              </a:defRPr>
            </a:pPr>
            <a:r>
              <a:t>訓練類別以政府公告之政策性產業為優先，其餘為輔；計畫明確規定「不受理托育人員與照顧服務員之訓練課程申請」。</a:t>
            </a:r>
          </a:p>
        </p:txBody>
      </p:sp>
      <p:sp>
        <p:nvSpPr>
          <p:cNvPr id="7" name="Rounded Rectangle 6"/>
          <p:cNvSpPr/>
          <p:nvPr/>
        </p:nvSpPr>
        <p:spPr>
          <a:xfrm>
            <a:off x="4425696"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25696" y="1737360"/>
            <a:ext cx="3328416"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1956816"/>
            <a:ext cx="2816352" cy="3931920"/>
          </a:xfrm>
          <a:prstGeom prst="rect">
            <a:avLst/>
          </a:prstGeom>
          <a:noFill/>
        </p:spPr>
        <p:txBody>
          <a:bodyPr wrap="square" lIns="0" tIns="0" rIns="0" bIns="0">
            <a:spAutoFit/>
          </a:bodyPr>
          <a:lstStyle/>
          <a:p>
            <a:pPr>
              <a:defRPr sz="1000" b="1">
                <a:solidFill>
                  <a:srgbClr val="818CF8"/>
                </a:solidFill>
                <a:latin typeface="Arial"/>
              </a:defRPr>
            </a:pPr>
            <a:r>
              <a:t>FOCUS 02</a:t>
            </a:r>
          </a:p>
          <a:p>
            <a:pPr>
              <a:spcBef>
                <a:spcPts val="400"/>
              </a:spcBef>
              <a:defRPr sz="1800" b="1">
                <a:solidFill>
                  <a:srgbClr val="F8FAFC"/>
                </a:solidFill>
                <a:latin typeface="微軟正黑體"/>
              </a:defRPr>
            </a:pPr>
            <a:r>
              <a:t>產學實務師資陣容</a:t>
            </a:r>
          </a:p>
          <a:p>
            <a:pPr>
              <a:spcBef>
                <a:spcPts val="1000"/>
              </a:spcBef>
              <a:defRPr sz="1300" b="1">
                <a:solidFill>
                  <a:srgbClr val="818CF8"/>
                </a:solidFill>
                <a:latin typeface="微軟正黑體"/>
              </a:defRPr>
            </a:pPr>
            <a:r>
              <a:t>▸ 合格教師、專業證照與業界師傅</a:t>
            </a:r>
          </a:p>
          <a:p>
            <a:pPr>
              <a:spcBef>
                <a:spcPts val="1000"/>
              </a:spcBef>
              <a:defRPr sz="1200">
                <a:solidFill>
                  <a:srgbClr val="94A3B8"/>
                </a:solidFill>
                <a:latin typeface="微軟正黑體"/>
              </a:defRPr>
            </a:pPr>
            <a:r>
              <a:t>講師須具備合格教師資格、甲/乙級技術士證，或在技術上有特殊造詣達 5 年以上之業界師傅，或大專畢業任職事業單位 2 年以上者。</a:t>
            </a:r>
          </a:p>
        </p:txBody>
      </p:sp>
      <p:sp>
        <p:nvSpPr>
          <p:cNvPr id="10" name="Rounded Rectangle 9"/>
          <p:cNvSpPr/>
          <p:nvPr/>
        </p:nvSpPr>
        <p:spPr>
          <a:xfrm>
            <a:off x="8119872"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1737360"/>
            <a:ext cx="3328416"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1956816"/>
            <a:ext cx="2816352" cy="3931920"/>
          </a:xfrm>
          <a:prstGeom prst="rect">
            <a:avLst/>
          </a:prstGeom>
          <a:noFill/>
        </p:spPr>
        <p:txBody>
          <a:bodyPr wrap="square" lIns="0" tIns="0" rIns="0" bIns="0">
            <a:spAutoFit/>
          </a:bodyPr>
          <a:lstStyle/>
          <a:p>
            <a:pPr>
              <a:defRPr sz="1000" b="1">
                <a:solidFill>
                  <a:srgbClr val="FBBF24"/>
                </a:solidFill>
                <a:latin typeface="Arial"/>
              </a:defRPr>
            </a:pPr>
            <a:r>
              <a:t>FOCUS 03</a:t>
            </a:r>
          </a:p>
          <a:p>
            <a:pPr>
              <a:spcBef>
                <a:spcPts val="400"/>
              </a:spcBef>
              <a:defRPr sz="1800" b="1">
                <a:solidFill>
                  <a:srgbClr val="F8FAFC"/>
                </a:solidFill>
                <a:latin typeface="微軟正黑體"/>
              </a:defRPr>
            </a:pPr>
            <a:r>
              <a:t>多元實用課程類別</a:t>
            </a:r>
          </a:p>
          <a:p>
            <a:pPr>
              <a:spcBef>
                <a:spcPts val="1000"/>
              </a:spcBef>
              <a:defRPr sz="1300" b="1">
                <a:solidFill>
                  <a:srgbClr val="FBBF24"/>
                </a:solidFill>
                <a:latin typeface="微軟正黑體"/>
              </a:defRPr>
            </a:pPr>
            <a:r>
              <a:t>▸ 應用學分班與非學分實務班</a:t>
            </a:r>
          </a:p>
          <a:p>
            <a:pPr>
              <a:spcBef>
                <a:spcPts val="1000"/>
              </a:spcBef>
              <a:defRPr sz="1200">
                <a:solidFill>
                  <a:srgbClr val="94A3B8"/>
                </a:solidFill>
                <a:latin typeface="微軟正黑體"/>
              </a:defRPr>
            </a:pPr>
            <a:r>
              <a:t>分為大專應用學分班與合格法人團體非學分班，範疇涵蓋國際溝通能力、數位運用、研發創新、專業技術與經營管理，精準接軌職場。</a:t>
            </a:r>
          </a:p>
        </p:txBody>
      </p:sp>
      <p:sp>
        <p:nvSpPr>
          <p:cNvPr id="13" name="TextBox 12"/>
          <p:cNvSpPr txBox="1"/>
          <p:nvPr/>
        </p:nvSpPr>
        <p:spPr>
          <a:xfrm>
            <a:off x="731520" y="6217920"/>
            <a:ext cx="10728655" cy="365760"/>
          </a:xfrm>
          <a:prstGeom prst="rect">
            <a:avLst/>
          </a:prstGeom>
          <a:noFill/>
        </p:spPr>
        <p:txBody>
          <a:bodyPr wrap="square" lIns="0" tIns="0" rIns="0" bIns="0">
            <a:spAutoFit/>
          </a:bodyPr>
          <a:lstStyle/>
          <a:p>
            <a:pPr>
              <a:defRPr sz="1000">
                <a:solidFill>
                  <a:srgbClr val="64748B"/>
                </a:solidFill>
                <a:latin typeface="微軟正黑體"/>
              </a:defRPr>
            </a:pPr>
            <a:r>
              <a:t>依據：計畫第八條至第十條、第十五條及附件一師資資格標準表  |  勞動部勞動力發展署產業人才投資計畫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280160"/>
          </a:xfrm>
          <a:prstGeom prst="rect">
            <a:avLst/>
          </a:prstGeom>
          <a:noFill/>
        </p:spPr>
        <p:txBody>
          <a:bodyPr wrap="square" lIns="0" tIns="0" rIns="0" bIns="0">
            <a:spAutoFit/>
          </a:bodyPr>
          <a:lstStyle/>
          <a:p>
            <a:pPr>
              <a:defRPr sz="1100" b="1">
                <a:solidFill>
                  <a:srgbClr val="38BDF8"/>
                </a:solidFill>
                <a:latin typeface="微軟正黑體"/>
              </a:defRPr>
            </a:pPr>
            <a:r>
              <a:t>SLIDE 06 / 08 • 機構申請資格</a:t>
            </a:r>
          </a:p>
          <a:p>
            <a:pPr>
              <a:spcBef>
                <a:spcPts val="400"/>
              </a:spcBef>
              <a:defRPr sz="2600" b="1">
                <a:solidFill>
                  <a:srgbClr val="F8FAFC"/>
                </a:solidFill>
                <a:latin typeface="微軟正黑體"/>
              </a:defRPr>
            </a:pPr>
            <a:r>
              <a:t>辦訓單位資格與 TTQS 認證</a:t>
            </a:r>
          </a:p>
          <a:p>
            <a:pPr>
              <a:spcBef>
                <a:spcPts val="200"/>
              </a:spcBef>
              <a:defRPr sz="1200">
                <a:solidFill>
                  <a:srgbClr val="94A3B8"/>
                </a:solidFill>
                <a:latin typeface="微軟正黑體"/>
              </a:defRPr>
            </a:pPr>
            <a:r>
              <a:t>嚴選具備法定資格之辦訓機構，要求 TTQS 品質認證與場地公共安全</a:t>
            </a:r>
          </a:p>
        </p:txBody>
      </p:sp>
      <p:sp>
        <p:nvSpPr>
          <p:cNvPr id="4" name="Rounded Rectangle 3"/>
          <p:cNvSpPr/>
          <p:nvPr/>
        </p:nvSpPr>
        <p:spPr>
          <a:xfrm>
            <a:off x="731520"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3328416"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956816"/>
            <a:ext cx="2816352" cy="3931920"/>
          </a:xfrm>
          <a:prstGeom prst="rect">
            <a:avLst/>
          </a:prstGeom>
          <a:noFill/>
        </p:spPr>
        <p:txBody>
          <a:bodyPr wrap="square" lIns="0" tIns="0" rIns="0" bIns="0">
            <a:spAutoFit/>
          </a:bodyPr>
          <a:lstStyle/>
          <a:p>
            <a:pPr>
              <a:defRPr sz="1000" b="1">
                <a:solidFill>
                  <a:srgbClr val="38BDF8"/>
                </a:solidFill>
                <a:latin typeface="Arial"/>
              </a:defRPr>
            </a:pPr>
            <a:r>
              <a:t>FOCUS 01</a:t>
            </a:r>
          </a:p>
          <a:p>
            <a:pPr>
              <a:spcBef>
                <a:spcPts val="400"/>
              </a:spcBef>
              <a:defRPr sz="1800" b="1">
                <a:solidFill>
                  <a:srgbClr val="F8FAFC"/>
                </a:solidFill>
                <a:latin typeface="微軟正黑體"/>
              </a:defRPr>
            </a:pPr>
            <a:r>
              <a:t>TTQS 評核品質門檻</a:t>
            </a:r>
          </a:p>
          <a:p>
            <a:pPr>
              <a:spcBef>
                <a:spcPts val="1000"/>
              </a:spcBef>
              <a:defRPr sz="1300" b="1">
                <a:solidFill>
                  <a:srgbClr val="38BDF8"/>
                </a:solidFill>
                <a:latin typeface="微軟正黑體"/>
              </a:defRPr>
            </a:pPr>
            <a:r>
              <a:t>▸ 截止前 120 日內持有通過證書</a:t>
            </a:r>
          </a:p>
          <a:p>
            <a:pPr>
              <a:spcBef>
                <a:spcPts val="1000"/>
              </a:spcBef>
              <a:defRPr sz="1200">
                <a:solidFill>
                  <a:srgbClr val="94A3B8"/>
                </a:solidFill>
                <a:latin typeface="微軟正黑體"/>
              </a:defRPr>
            </a:pPr>
            <a:r>
              <a:t>申請單位須於截止日前 120 日期間持有發展署 TTQS 訓練機構版通過（含）以上有效證書；最近一次經審查計分表核列為 D 級者嚴格禁申。</a:t>
            </a:r>
          </a:p>
        </p:txBody>
      </p:sp>
      <p:sp>
        <p:nvSpPr>
          <p:cNvPr id="7" name="Rounded Rectangle 6"/>
          <p:cNvSpPr/>
          <p:nvPr/>
        </p:nvSpPr>
        <p:spPr>
          <a:xfrm>
            <a:off x="4425696"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25696" y="1737360"/>
            <a:ext cx="3328416"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1956816"/>
            <a:ext cx="2816352" cy="3931920"/>
          </a:xfrm>
          <a:prstGeom prst="rect">
            <a:avLst/>
          </a:prstGeom>
          <a:noFill/>
        </p:spPr>
        <p:txBody>
          <a:bodyPr wrap="square" lIns="0" tIns="0" rIns="0" bIns="0">
            <a:spAutoFit/>
          </a:bodyPr>
          <a:lstStyle/>
          <a:p>
            <a:pPr>
              <a:defRPr sz="1000" b="1">
                <a:solidFill>
                  <a:srgbClr val="818CF8"/>
                </a:solidFill>
                <a:latin typeface="Arial"/>
              </a:defRPr>
            </a:pPr>
            <a:r>
              <a:t>FOCUS 02</a:t>
            </a:r>
          </a:p>
          <a:p>
            <a:pPr>
              <a:spcBef>
                <a:spcPts val="400"/>
              </a:spcBef>
              <a:defRPr sz="1800" b="1">
                <a:solidFill>
                  <a:srgbClr val="F8FAFC"/>
                </a:solidFill>
                <a:latin typeface="微軟正黑體"/>
              </a:defRPr>
            </a:pPr>
            <a:r>
              <a:t>合格辦訓機構範疇</a:t>
            </a:r>
          </a:p>
          <a:p>
            <a:pPr>
              <a:spcBef>
                <a:spcPts val="1000"/>
              </a:spcBef>
              <a:defRPr sz="1300" b="1">
                <a:solidFill>
                  <a:srgbClr val="818CF8"/>
                </a:solidFill>
                <a:latin typeface="微軟正黑體"/>
              </a:defRPr>
            </a:pPr>
            <a:r>
              <a:t>▸ 大專校院、合格職訓機構與團體</a:t>
            </a:r>
          </a:p>
          <a:p>
            <a:pPr>
              <a:spcBef>
                <a:spcPts val="1000"/>
              </a:spcBef>
              <a:defRPr sz="1200">
                <a:solidFill>
                  <a:srgbClr val="94A3B8"/>
                </a:solidFill>
                <a:latin typeface="微軟正黑體"/>
              </a:defRPr>
            </a:pPr>
            <a:r>
              <a:t>包括教育部立案大專校院，或立案 2 年以上之職業訓練機構、工商/農漁民團體、研究機構與公益法人（依法排除一般勞工團體）。</a:t>
            </a:r>
          </a:p>
        </p:txBody>
      </p:sp>
      <p:sp>
        <p:nvSpPr>
          <p:cNvPr id="10" name="Rounded Rectangle 9"/>
          <p:cNvSpPr/>
          <p:nvPr/>
        </p:nvSpPr>
        <p:spPr>
          <a:xfrm>
            <a:off x="8119872"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1737360"/>
            <a:ext cx="3328416"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1956816"/>
            <a:ext cx="2816352" cy="3931920"/>
          </a:xfrm>
          <a:prstGeom prst="rect">
            <a:avLst/>
          </a:prstGeom>
          <a:noFill/>
        </p:spPr>
        <p:txBody>
          <a:bodyPr wrap="square" lIns="0" tIns="0" rIns="0" bIns="0">
            <a:spAutoFit/>
          </a:bodyPr>
          <a:lstStyle/>
          <a:p>
            <a:pPr>
              <a:defRPr sz="1000" b="1">
                <a:solidFill>
                  <a:srgbClr val="FBBF24"/>
                </a:solidFill>
                <a:latin typeface="Arial"/>
              </a:defRPr>
            </a:pPr>
            <a:r>
              <a:t>FOCUS 03</a:t>
            </a:r>
          </a:p>
          <a:p>
            <a:pPr>
              <a:spcBef>
                <a:spcPts val="400"/>
              </a:spcBef>
              <a:defRPr sz="1800" b="1">
                <a:solidFill>
                  <a:srgbClr val="F8FAFC"/>
                </a:solidFill>
                <a:latin typeface="微軟正黑體"/>
              </a:defRPr>
            </a:pPr>
            <a:r>
              <a:t>場地公安與消檢規範</a:t>
            </a:r>
          </a:p>
          <a:p>
            <a:pPr>
              <a:spcBef>
                <a:spcPts val="1000"/>
              </a:spcBef>
              <a:defRPr sz="1300" b="1">
                <a:solidFill>
                  <a:srgbClr val="FBBF24"/>
                </a:solidFill>
                <a:latin typeface="微軟正黑體"/>
              </a:defRPr>
            </a:pPr>
            <a:r>
              <a:t>▸ 消防安檢與防火避難合格證明</a:t>
            </a:r>
          </a:p>
          <a:p>
            <a:pPr>
              <a:spcBef>
                <a:spcPts val="1000"/>
              </a:spcBef>
              <a:defRPr sz="1200">
                <a:solidFill>
                  <a:srgbClr val="94A3B8"/>
                </a:solidFill>
                <a:latin typeface="微軟正黑體"/>
              </a:defRPr>
            </a:pPr>
            <a:r>
              <a:t>須編制專職辦訓人員；辦訓場地須檢附效期內消防安全設備檢修受理單與建築物防火避難安全檢查申報合格通知書，以策學員安全。</a:t>
            </a:r>
          </a:p>
        </p:txBody>
      </p:sp>
      <p:sp>
        <p:nvSpPr>
          <p:cNvPr id="13" name="TextBox 12"/>
          <p:cNvSpPr txBox="1"/>
          <p:nvPr/>
        </p:nvSpPr>
        <p:spPr>
          <a:xfrm>
            <a:off x="731520" y="6217920"/>
            <a:ext cx="10728655" cy="365760"/>
          </a:xfrm>
          <a:prstGeom prst="rect">
            <a:avLst/>
          </a:prstGeom>
          <a:noFill/>
        </p:spPr>
        <p:txBody>
          <a:bodyPr wrap="square" lIns="0" tIns="0" rIns="0" bIns="0">
            <a:spAutoFit/>
          </a:bodyPr>
          <a:lstStyle/>
          <a:p>
            <a:pPr>
              <a:defRPr sz="1000">
                <a:solidFill>
                  <a:srgbClr val="64748B"/>
                </a:solidFill>
                <a:latin typeface="微軟正黑體"/>
              </a:defRPr>
            </a:pPr>
            <a:r>
              <a:t>依據：計畫第三條、第十七條、第十九條規定  |  勞動部勞動力發展署產業人才投資計畫</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280160"/>
          </a:xfrm>
          <a:prstGeom prst="rect">
            <a:avLst/>
          </a:prstGeom>
          <a:noFill/>
        </p:spPr>
        <p:txBody>
          <a:bodyPr wrap="square" lIns="0" tIns="0" rIns="0" bIns="0">
            <a:spAutoFit/>
          </a:bodyPr>
          <a:lstStyle/>
          <a:p>
            <a:pPr>
              <a:defRPr sz="1100" b="1">
                <a:solidFill>
                  <a:srgbClr val="38BDF8"/>
                </a:solidFill>
                <a:latin typeface="微軟正黑體"/>
              </a:defRPr>
            </a:pPr>
            <a:r>
              <a:t>SLIDE 07 / 08 • 評核與經費配額</a:t>
            </a:r>
          </a:p>
          <a:p>
            <a:pPr>
              <a:spcBef>
                <a:spcPts val="400"/>
              </a:spcBef>
              <a:defRPr sz="2600" b="1">
                <a:solidFill>
                  <a:srgbClr val="F8FAFC"/>
                </a:solidFill>
                <a:latin typeface="微軟正黑體"/>
              </a:defRPr>
            </a:pPr>
            <a:r>
              <a:t>兩階段審查與經費分級核配</a:t>
            </a:r>
          </a:p>
          <a:p>
            <a:pPr>
              <a:spcBef>
                <a:spcPts val="200"/>
              </a:spcBef>
              <a:defRPr sz="1200">
                <a:solidFill>
                  <a:srgbClr val="94A3B8"/>
                </a:solidFill>
                <a:latin typeface="微軟正黑體"/>
              </a:defRPr>
            </a:pPr>
            <a:r>
              <a:t>產官學外部委員客觀把關，指標化分級核配經費，落實申復救濟管道</a:t>
            </a:r>
          </a:p>
        </p:txBody>
      </p:sp>
      <p:sp>
        <p:nvSpPr>
          <p:cNvPr id="4" name="Rounded Rectangle 3"/>
          <p:cNvSpPr/>
          <p:nvPr/>
        </p:nvSpPr>
        <p:spPr>
          <a:xfrm>
            <a:off x="731520"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3328416"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956816"/>
            <a:ext cx="2816352" cy="3931920"/>
          </a:xfrm>
          <a:prstGeom prst="rect">
            <a:avLst/>
          </a:prstGeom>
          <a:noFill/>
        </p:spPr>
        <p:txBody>
          <a:bodyPr wrap="square" lIns="0" tIns="0" rIns="0" bIns="0">
            <a:spAutoFit/>
          </a:bodyPr>
          <a:lstStyle/>
          <a:p>
            <a:pPr>
              <a:defRPr sz="1000" b="1">
                <a:solidFill>
                  <a:srgbClr val="38BDF8"/>
                </a:solidFill>
                <a:latin typeface="Arial"/>
              </a:defRPr>
            </a:pPr>
            <a:r>
              <a:t>FOCUS 01</a:t>
            </a:r>
          </a:p>
          <a:p>
            <a:pPr>
              <a:spcBef>
                <a:spcPts val="400"/>
              </a:spcBef>
              <a:defRPr sz="1800" b="1">
                <a:solidFill>
                  <a:srgbClr val="F8FAFC"/>
                </a:solidFill>
                <a:latin typeface="微軟正黑體"/>
              </a:defRPr>
            </a:pPr>
            <a:r>
              <a:t>兩階段嚴謹審查機制</a:t>
            </a:r>
          </a:p>
          <a:p>
            <a:pPr>
              <a:spcBef>
                <a:spcPts val="1000"/>
              </a:spcBef>
              <a:defRPr sz="1300" b="1">
                <a:solidFill>
                  <a:srgbClr val="38BDF8"/>
                </a:solidFill>
                <a:latin typeface="微軟正黑體"/>
              </a:defRPr>
            </a:pPr>
            <a:r>
              <a:t>▸ 書面實質雙審核、委員利益迴避</a:t>
            </a:r>
          </a:p>
          <a:p>
            <a:pPr>
              <a:spcBef>
                <a:spcPts val="1000"/>
              </a:spcBef>
              <a:defRPr sz="1200">
                <a:solidFill>
                  <a:srgbClr val="94A3B8"/>
                </a:solidFill>
                <a:latin typeface="微軟正黑體"/>
              </a:defRPr>
            </a:pPr>
            <a:r>
              <a:t>第一階段由分區小組（產官學勞專家至少 5 人）審查課程相關性與經費；通過後第二階段依「審查計分表」客觀核計訓練單位之辦訓能力。</a:t>
            </a:r>
          </a:p>
        </p:txBody>
      </p:sp>
      <p:sp>
        <p:nvSpPr>
          <p:cNvPr id="7" name="Rounded Rectangle 6"/>
          <p:cNvSpPr/>
          <p:nvPr/>
        </p:nvSpPr>
        <p:spPr>
          <a:xfrm>
            <a:off x="4425696"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25696" y="1737360"/>
            <a:ext cx="3328416"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1956816"/>
            <a:ext cx="2816352" cy="3931920"/>
          </a:xfrm>
          <a:prstGeom prst="rect">
            <a:avLst/>
          </a:prstGeom>
          <a:noFill/>
        </p:spPr>
        <p:txBody>
          <a:bodyPr wrap="square" lIns="0" tIns="0" rIns="0" bIns="0">
            <a:spAutoFit/>
          </a:bodyPr>
          <a:lstStyle/>
          <a:p>
            <a:pPr>
              <a:defRPr sz="1000" b="1">
                <a:solidFill>
                  <a:srgbClr val="818CF8"/>
                </a:solidFill>
                <a:latin typeface="Arial"/>
              </a:defRPr>
            </a:pPr>
            <a:r>
              <a:t>FOCUS 02</a:t>
            </a:r>
          </a:p>
          <a:p>
            <a:pPr>
              <a:spcBef>
                <a:spcPts val="400"/>
              </a:spcBef>
              <a:defRPr sz="1800" b="1">
                <a:solidFill>
                  <a:srgbClr val="F8FAFC"/>
                </a:solidFill>
                <a:latin typeface="微軟正黑體"/>
              </a:defRPr>
            </a:pPr>
            <a:r>
              <a:t>ABCD 預算分配比率</a:t>
            </a:r>
          </a:p>
          <a:p>
            <a:pPr>
              <a:spcBef>
                <a:spcPts val="1000"/>
              </a:spcBef>
              <a:defRPr sz="1300" b="1">
                <a:solidFill>
                  <a:srgbClr val="818CF8"/>
                </a:solidFill>
                <a:latin typeface="微軟正黑體"/>
              </a:defRPr>
            </a:pPr>
            <a:r>
              <a:t>▸ A級 50%、B級 30%、C級 20%、D級不核配</a:t>
            </a:r>
          </a:p>
          <a:p>
            <a:pPr>
              <a:spcBef>
                <a:spcPts val="1000"/>
              </a:spcBef>
              <a:defRPr sz="1200">
                <a:solidFill>
                  <a:srgbClr val="94A3B8"/>
                </a:solidFill>
                <a:latin typeface="微軟正黑體"/>
              </a:defRPr>
            </a:pPr>
            <a:r>
              <a:t>依計分排序：A級（前25%）核配 50% 經費；B級（25-55%）配 30%；C級（55-90%及新單位）配 20%；D級（後10%）不予核配訓練經費。</a:t>
            </a:r>
          </a:p>
        </p:txBody>
      </p:sp>
      <p:sp>
        <p:nvSpPr>
          <p:cNvPr id="10" name="Rounded Rectangle 9"/>
          <p:cNvSpPr/>
          <p:nvPr/>
        </p:nvSpPr>
        <p:spPr>
          <a:xfrm>
            <a:off x="8119872"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1737360"/>
            <a:ext cx="3328416"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1956816"/>
            <a:ext cx="2816352" cy="3931920"/>
          </a:xfrm>
          <a:prstGeom prst="rect">
            <a:avLst/>
          </a:prstGeom>
          <a:noFill/>
        </p:spPr>
        <p:txBody>
          <a:bodyPr wrap="square" lIns="0" tIns="0" rIns="0" bIns="0">
            <a:spAutoFit/>
          </a:bodyPr>
          <a:lstStyle/>
          <a:p>
            <a:pPr>
              <a:defRPr sz="1000" b="1">
                <a:solidFill>
                  <a:srgbClr val="FBBF24"/>
                </a:solidFill>
                <a:latin typeface="Arial"/>
              </a:defRPr>
            </a:pPr>
            <a:r>
              <a:t>FOCUS 03</a:t>
            </a:r>
          </a:p>
          <a:p>
            <a:pPr>
              <a:spcBef>
                <a:spcPts val="400"/>
              </a:spcBef>
              <a:defRPr sz="1800" b="1">
                <a:solidFill>
                  <a:srgbClr val="F8FAFC"/>
                </a:solidFill>
                <a:latin typeface="微軟正黑體"/>
              </a:defRPr>
            </a:pPr>
            <a:r>
              <a:t>iCAP 認證獎勵與申復</a:t>
            </a:r>
          </a:p>
          <a:p>
            <a:pPr>
              <a:spcBef>
                <a:spcPts val="1000"/>
              </a:spcBef>
              <a:defRPr sz="1300" b="1">
                <a:solidFill>
                  <a:srgbClr val="FBBF24"/>
                </a:solidFill>
                <a:latin typeface="微軟正黑體"/>
              </a:defRPr>
            </a:pPr>
            <a:r>
              <a:t>▸ iCAP 3 年優先核定且額度外加</a:t>
            </a:r>
          </a:p>
          <a:p>
            <a:pPr>
              <a:spcBef>
                <a:spcPts val="1000"/>
              </a:spcBef>
              <a:defRPr sz="1200">
                <a:solidFill>
                  <a:srgbClr val="94A3B8"/>
                </a:solidFill>
                <a:latin typeface="微軟正黑體"/>
              </a:defRPr>
            </a:pPr>
            <a:r>
              <a:t>獲本署 iCAP 品質認證課程享 3 年優先核定且不佔等級核配額度；訓練單位對核定結果若有不服，得於公告次日起 10 日內書面提出申復。</a:t>
            </a:r>
          </a:p>
        </p:txBody>
      </p:sp>
      <p:sp>
        <p:nvSpPr>
          <p:cNvPr id="13" name="TextBox 12"/>
          <p:cNvSpPr txBox="1"/>
          <p:nvPr/>
        </p:nvSpPr>
        <p:spPr>
          <a:xfrm>
            <a:off x="731520" y="6217920"/>
            <a:ext cx="10728655" cy="365760"/>
          </a:xfrm>
          <a:prstGeom prst="rect">
            <a:avLst/>
          </a:prstGeom>
          <a:noFill/>
        </p:spPr>
        <p:txBody>
          <a:bodyPr wrap="square" lIns="0" tIns="0" rIns="0" bIns="0">
            <a:spAutoFit/>
          </a:bodyPr>
          <a:lstStyle/>
          <a:p>
            <a:pPr>
              <a:defRPr sz="1000">
                <a:solidFill>
                  <a:srgbClr val="64748B"/>
                </a:solidFill>
                <a:latin typeface="微軟正黑體"/>
              </a:defRPr>
            </a:pPr>
            <a:r>
              <a:t>依據：計畫第二十一條、第二十三條、附件二至四  |  勞動部勞動力發展署產業人才投資計畫</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280160"/>
          </a:xfrm>
          <a:prstGeom prst="rect">
            <a:avLst/>
          </a:prstGeom>
          <a:noFill/>
        </p:spPr>
        <p:txBody>
          <a:bodyPr wrap="square" lIns="0" tIns="0" rIns="0" bIns="0">
            <a:spAutoFit/>
          </a:bodyPr>
          <a:lstStyle/>
          <a:p>
            <a:pPr>
              <a:defRPr sz="1100" b="1">
                <a:solidFill>
                  <a:srgbClr val="38BDF8"/>
                </a:solidFill>
                <a:latin typeface="微軟正黑體"/>
              </a:defRPr>
            </a:pPr>
            <a:r>
              <a:t>SLIDE 08 / 08 • 稽核與停權退場</a:t>
            </a:r>
          </a:p>
          <a:p>
            <a:pPr>
              <a:spcBef>
                <a:spcPts val="400"/>
              </a:spcBef>
              <a:defRPr sz="2600" b="1">
                <a:solidFill>
                  <a:srgbClr val="F8FAFC"/>
                </a:solidFill>
                <a:latin typeface="微軟正黑體"/>
              </a:defRPr>
            </a:pPr>
            <a:r>
              <a:t>督導考核、結訓請領與罰則</a:t>
            </a:r>
          </a:p>
          <a:p>
            <a:pPr>
              <a:spcBef>
                <a:spcPts val="200"/>
              </a:spcBef>
              <a:defRPr sz="1200">
                <a:solidFill>
                  <a:srgbClr val="94A3B8"/>
                </a:solidFill>
                <a:latin typeface="微軟正黑體"/>
              </a:defRPr>
            </a:pPr>
            <a:r>
              <a:t>無預警抽查強化品質監管，嚴明學員與辦訓單位停權違規處分準則</a:t>
            </a:r>
          </a:p>
        </p:txBody>
      </p:sp>
      <p:sp>
        <p:nvSpPr>
          <p:cNvPr id="4" name="Rounded Rectangle 3"/>
          <p:cNvSpPr/>
          <p:nvPr/>
        </p:nvSpPr>
        <p:spPr>
          <a:xfrm>
            <a:off x="731520"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737360"/>
            <a:ext cx="3328416"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956816"/>
            <a:ext cx="2816352" cy="3931920"/>
          </a:xfrm>
          <a:prstGeom prst="rect">
            <a:avLst/>
          </a:prstGeom>
          <a:noFill/>
        </p:spPr>
        <p:txBody>
          <a:bodyPr wrap="square" lIns="0" tIns="0" rIns="0" bIns="0">
            <a:spAutoFit/>
          </a:bodyPr>
          <a:lstStyle/>
          <a:p>
            <a:pPr>
              <a:defRPr sz="1000" b="1">
                <a:solidFill>
                  <a:srgbClr val="38BDF8"/>
                </a:solidFill>
                <a:latin typeface="Arial"/>
              </a:defRPr>
            </a:pPr>
            <a:r>
              <a:t>FOCUS 01</a:t>
            </a:r>
          </a:p>
          <a:p>
            <a:pPr>
              <a:spcBef>
                <a:spcPts val="400"/>
              </a:spcBef>
              <a:defRPr sz="1800" b="1">
                <a:solidFill>
                  <a:srgbClr val="F8FAFC"/>
                </a:solidFill>
                <a:latin typeface="微軟正黑體"/>
              </a:defRPr>
            </a:pPr>
            <a:r>
              <a:t>無預警抽查與結訓撥款</a:t>
            </a:r>
          </a:p>
          <a:p>
            <a:pPr>
              <a:spcBef>
                <a:spcPts val="1000"/>
              </a:spcBef>
              <a:defRPr sz="1300" b="1">
                <a:solidFill>
                  <a:srgbClr val="38BDF8"/>
                </a:solidFill>
                <a:latin typeface="微軟正黑體"/>
              </a:defRPr>
            </a:pPr>
            <a:r>
              <a:t>▸ 實地及電話抽訪、缺席未逾 20%</a:t>
            </a:r>
          </a:p>
          <a:p>
            <a:pPr>
              <a:spcBef>
                <a:spcPts val="1000"/>
              </a:spcBef>
              <a:defRPr sz="1200">
                <a:solidFill>
                  <a:srgbClr val="94A3B8"/>
                </a:solidFill>
                <a:latin typeface="微軟正黑體"/>
              </a:defRPr>
            </a:pPr>
            <a:r>
              <a:t>分署採不預告抽訪；學員缺席未逾 1/5 且取得結訓證明、填寫調查表，於結訓後 21 日內由單位函報，經審核補助款直接撥入學員個人帳戶。</a:t>
            </a:r>
          </a:p>
        </p:txBody>
      </p:sp>
      <p:sp>
        <p:nvSpPr>
          <p:cNvPr id="7" name="Rounded Rectangle 6"/>
          <p:cNvSpPr/>
          <p:nvPr/>
        </p:nvSpPr>
        <p:spPr>
          <a:xfrm>
            <a:off x="4425696"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25696" y="1737360"/>
            <a:ext cx="3328416"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1956816"/>
            <a:ext cx="2816352" cy="3931920"/>
          </a:xfrm>
          <a:prstGeom prst="rect">
            <a:avLst/>
          </a:prstGeom>
          <a:noFill/>
        </p:spPr>
        <p:txBody>
          <a:bodyPr wrap="square" lIns="0" tIns="0" rIns="0" bIns="0">
            <a:spAutoFit/>
          </a:bodyPr>
          <a:lstStyle/>
          <a:p>
            <a:pPr>
              <a:defRPr sz="1000" b="1">
                <a:solidFill>
                  <a:srgbClr val="818CF8"/>
                </a:solidFill>
                <a:latin typeface="Arial"/>
              </a:defRPr>
            </a:pPr>
            <a:r>
              <a:t>FOCUS 02</a:t>
            </a:r>
          </a:p>
          <a:p>
            <a:pPr>
              <a:spcBef>
                <a:spcPts val="400"/>
              </a:spcBef>
              <a:defRPr sz="1800" b="1">
                <a:solidFill>
                  <a:srgbClr val="F8FAFC"/>
                </a:solidFill>
                <a:latin typeface="微軟正黑體"/>
              </a:defRPr>
            </a:pPr>
            <a:r>
              <a:t>學員違規處分機制</a:t>
            </a:r>
          </a:p>
          <a:p>
            <a:pPr>
              <a:spcBef>
                <a:spcPts val="1000"/>
              </a:spcBef>
              <a:defRPr sz="1300" b="1">
                <a:solidFill>
                  <a:srgbClr val="818CF8"/>
                </a:solidFill>
                <a:latin typeface="微軟正黑體"/>
              </a:defRPr>
            </a:pPr>
            <a:r>
              <a:t>▸ 造假停權 2 年、代簽停權 1 年</a:t>
            </a:r>
          </a:p>
          <a:p>
            <a:pPr>
              <a:spcBef>
                <a:spcPts val="1000"/>
              </a:spcBef>
              <a:defRPr sz="1200">
                <a:solidFill>
                  <a:srgbClr val="94A3B8"/>
                </a:solidFill>
                <a:latin typeface="微軟正黑體"/>
              </a:defRPr>
            </a:pPr>
            <a:r>
              <a:t>以偽造文書不實參訓或冒名頂替者，撤銷原補助並停止補助 2 年；到課情形與簽名不符或代簽名者，追回款項並處以停止補助 1 年。</a:t>
            </a:r>
          </a:p>
        </p:txBody>
      </p:sp>
      <p:sp>
        <p:nvSpPr>
          <p:cNvPr id="10" name="Rounded Rectangle 9"/>
          <p:cNvSpPr/>
          <p:nvPr/>
        </p:nvSpPr>
        <p:spPr>
          <a:xfrm>
            <a:off x="8119872" y="1737360"/>
            <a:ext cx="3328416" cy="42976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1737360"/>
            <a:ext cx="3328416"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1956816"/>
            <a:ext cx="2816352" cy="3931920"/>
          </a:xfrm>
          <a:prstGeom prst="rect">
            <a:avLst/>
          </a:prstGeom>
          <a:noFill/>
        </p:spPr>
        <p:txBody>
          <a:bodyPr wrap="square" lIns="0" tIns="0" rIns="0" bIns="0">
            <a:spAutoFit/>
          </a:bodyPr>
          <a:lstStyle/>
          <a:p>
            <a:pPr>
              <a:defRPr sz="1000" b="1">
                <a:solidFill>
                  <a:srgbClr val="FBBF24"/>
                </a:solidFill>
                <a:latin typeface="Arial"/>
              </a:defRPr>
            </a:pPr>
            <a:r>
              <a:t>FOCUS 03</a:t>
            </a:r>
          </a:p>
          <a:p>
            <a:pPr>
              <a:spcBef>
                <a:spcPts val="400"/>
              </a:spcBef>
              <a:defRPr sz="1800" b="1">
                <a:solidFill>
                  <a:srgbClr val="F8FAFC"/>
                </a:solidFill>
                <a:latin typeface="微軟正黑體"/>
              </a:defRPr>
            </a:pPr>
            <a:r>
              <a:t>辦訓單位違規停權</a:t>
            </a:r>
          </a:p>
          <a:p>
            <a:pPr>
              <a:spcBef>
                <a:spcPts val="1000"/>
              </a:spcBef>
              <a:defRPr sz="1300" b="1">
                <a:solidFill>
                  <a:srgbClr val="FBBF24"/>
                </a:solidFill>
                <a:latin typeface="微軟正黑體"/>
              </a:defRPr>
            </a:pPr>
            <a:r>
              <a:t>▸ 重大缺失停權 1 至 2 年</a:t>
            </a:r>
          </a:p>
          <a:p>
            <a:pPr>
              <a:spcBef>
                <a:spcPts val="1000"/>
              </a:spcBef>
              <a:defRPr sz="1200">
                <a:solidFill>
                  <a:srgbClr val="94A3B8"/>
                </a:solidFill>
                <a:latin typeface="微軟正黑體"/>
              </a:defRPr>
            </a:pPr>
            <a:r>
              <a:t>超收費用、廣告不實者停權 1 年；轉包代辦、虛報人頭、重複請款、重大傷病缺失、未留存單據 10 年或未繳回差額者，停止未開班次並停權 2 年。</a:t>
            </a:r>
          </a:p>
        </p:txBody>
      </p:sp>
      <p:sp>
        <p:nvSpPr>
          <p:cNvPr id="13" name="TextBox 12"/>
          <p:cNvSpPr txBox="1"/>
          <p:nvPr/>
        </p:nvSpPr>
        <p:spPr>
          <a:xfrm>
            <a:off x="731520" y="6217920"/>
            <a:ext cx="10728655" cy="365760"/>
          </a:xfrm>
          <a:prstGeom prst="rect">
            <a:avLst/>
          </a:prstGeom>
          <a:noFill/>
        </p:spPr>
        <p:txBody>
          <a:bodyPr wrap="square" lIns="0" tIns="0" rIns="0" bIns="0">
            <a:spAutoFit/>
          </a:bodyPr>
          <a:lstStyle/>
          <a:p>
            <a:pPr>
              <a:defRPr sz="1000">
                <a:solidFill>
                  <a:srgbClr val="64748B"/>
                </a:solidFill>
                <a:latin typeface="微軟正黑體"/>
              </a:defRPr>
            </a:pPr>
            <a:r>
              <a:t>依據：計畫第三十三條至四十二條規定  |  勞動部勞動力發展署產業人才投資計畫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